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0"/>
  </p:notesMasterIdLst>
  <p:sldIdLst>
    <p:sldId id="296" r:id="rId2"/>
    <p:sldId id="258" r:id="rId3"/>
    <p:sldId id="260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97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2" r:id="rId26"/>
    <p:sldId id="280" r:id="rId27"/>
    <p:sldId id="281" r:id="rId28"/>
    <p:sldId id="298" r:id="rId29"/>
    <p:sldId id="299" r:id="rId30"/>
    <p:sldId id="287" r:id="rId31"/>
    <p:sldId id="288" r:id="rId32"/>
    <p:sldId id="289" r:id="rId33"/>
    <p:sldId id="290" r:id="rId34"/>
    <p:sldId id="295" r:id="rId35"/>
    <p:sldId id="291" r:id="rId36"/>
    <p:sldId id="292" r:id="rId37"/>
    <p:sldId id="293" r:id="rId38"/>
    <p:sldId id="294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3" autoAdjust="0"/>
    <p:restoredTop sz="94941" autoAdjust="0"/>
  </p:normalViewPr>
  <p:slideViewPr>
    <p:cSldViewPr snapToGrid="0">
      <p:cViewPr varScale="1">
        <p:scale>
          <a:sx n="125" d="100"/>
          <a:sy n="125" d="100"/>
        </p:scale>
        <p:origin x="1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04242F-DD33-4835-A533-2D502CB18286}" type="datetimeFigureOut">
              <a:rPr lang="en-US" smtClean="0"/>
              <a:t>5/2/26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45E48E-AAE9-46F7-97BE-24C5C914E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552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45E48E-AAE9-46F7-97BE-24C5C914EAA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0216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C3BD0-19FA-DD1D-43D6-0461EAC11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01656"/>
            <a:ext cx="10515600" cy="1393696"/>
          </a:xfrm>
        </p:spPr>
        <p:txBody>
          <a:bodyPr anchor="b"/>
          <a:lstStyle>
            <a:lvl1pPr algn="ctr">
              <a:defRPr sz="4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C1B18E-190F-6A9E-9677-6B8B87F40F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1810138"/>
            <a:ext cx="10515600" cy="4441371"/>
          </a:xfrm>
        </p:spPr>
        <p:txBody>
          <a:bodyPr/>
          <a:lstStyle>
            <a:lvl1pPr marL="0" indent="0" algn="ctr">
              <a:buNone/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E649691D-7CD2-21FA-3F42-9A1853D85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29 March, 2026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F3B77F58-B0A3-55BE-AE46-BD099A422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7E129076-1C73-89DD-702C-DC209ADC1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EE12-10DD-47FC-9BDC-E9BB437D8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649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54622-5D06-6CF3-8F9D-1E907FB03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8735B-F4CB-C09F-1200-A7045F3375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l">
              <a:lnSpc>
                <a:spcPct val="15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D70D9-5489-5472-D827-7846FEDFB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29 March,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B0FF2-C22A-532D-5CF8-64EFFA25E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15023-E1BD-FB69-01F2-4653413EC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EE12-10DD-47FC-9BDC-E9BB437D8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729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2F271-F5B6-EBBB-2B7E-63CCFEB88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67E50D-219C-5D9F-BD0A-E191B265E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3C6A45-FFE1-0535-AE1A-F8254A557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29 March,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1662C-71C1-3561-A165-AA1B956A0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71291-B561-B2F6-6186-0464CA2D4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EE12-10DD-47FC-9BDC-E9BB437D8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209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6427B-4065-469C-F9ED-032D23E8A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CB303-EFBA-9EFE-81CA-AB49B357B59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  Click to edit Master text 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C63DF5-00B8-550B-8E70-678A726AEE3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  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D4A3DB-1717-7362-C41D-7705DF08D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29 March,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2BA456-82B1-D795-2292-836B380ED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93E8BD-DEDA-1E7E-633A-C3212551B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EE12-10DD-47FC-9BDC-E9BB437D8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852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EEB62-3697-4ABA-0A05-966A3BBAF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ctr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31278F-3D2B-F8F7-26C4-291D9FB5F1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8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1E9E3D-2DB3-07D5-9E01-C89B3D6712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71761"/>
            <a:ext cx="5157787" cy="3517901"/>
          </a:xfrm>
        </p:spPr>
        <p:txBody>
          <a:bodyPr/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7FD507-88F9-8A9D-D506-952334D042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8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76A84F-AE10-0336-88FD-07CF8DA6BD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71761"/>
            <a:ext cx="5183188" cy="3517902"/>
          </a:xfrm>
        </p:spPr>
        <p:txBody>
          <a:bodyPr/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54E486-F3EE-C280-B7E9-AC2930BF8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29 March, 2026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79ABC4-9A8C-2285-DED1-8C3056A1F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82F359-EFA9-B5BA-9C79-3B2A1986A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EE12-10DD-47FC-9BDC-E9BB437D8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7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A325D-37A6-8A07-2E80-500AAFBEF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B7384A-E786-72FE-9BF0-CC2B9476F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29 March,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3B6034-B595-3E4C-09E3-9D450B6FD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9DD37A-FD2F-E1A6-B6B9-2651EDAD5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EE12-10DD-47FC-9BDC-E9BB437D8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421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DDFF30-7A01-F7D3-4456-6B95759E7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29 March,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40882F-B5AA-0437-DE2C-9BC0CC537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1CF1E-07D2-7071-752C-0AF01234A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EE12-10DD-47FC-9BDC-E9BB437D8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482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69615-735D-9F1F-F561-DA6CD9354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1BAD0-0EBD-335C-DE6C-496260667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AF6ED2-13F2-C259-FE12-4586D3DEDA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2637E4-FC66-B5FA-5451-FDC35D8EF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29 March,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7E637B-E1D1-B61B-5452-6CC80EC95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CDB3F7-2F60-59B8-396E-ACE43D37F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EE12-10DD-47FC-9BDC-E9BB437D8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427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49286-F735-9716-8D3E-00624821A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A04617-C888-6D0D-B472-1F11F19DB7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423C11-2F35-39CC-81AB-99DCD513A8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CCB359-EB20-1364-BC8D-C1DC93296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29 March,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264A1F-F19A-8CBE-293C-C6FF2638F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3E3AFF-E5AA-262B-C077-1E796D23E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EE12-10DD-47FC-9BDC-E9BB437D8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26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F78E1-C743-0CFE-BE45-F98F54CC5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4F6CB6-AD8E-BF16-63E8-66CA7B19F0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505EF-D731-7B6E-5BA7-6FF882BF7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29 March,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8D0B0-BF1D-32B7-6A68-F0A11810D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25AC1-DF43-7704-255C-EBE1C3A50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EE12-10DD-47FC-9BDC-E9BB437D8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209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81FEAB-C08B-6429-D5D3-5224949FDD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BA4EA9-B6D9-CFF6-D697-EB687B49AC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8B9FC-BE93-D549-180D-F212FBCAF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29 March,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17917-3799-5F61-D512-414A5355E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B89109-3929-8299-88E8-C7DFD6C2B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EE12-10DD-47FC-9BDC-E9BB437D8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326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202716-3AE2-8CB1-6D1C-86A0EA2BA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2D886C-88DD-6644-314D-7E1D21F12D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6033FB-91CC-4E85-75B7-C2BCC404E6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29 March,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B469BD-2C6B-5004-066A-9A67E46FB6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12C17-57E3-0D8A-833B-8A535AB357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7EEE12-10DD-47FC-9BDC-E9BB437D8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238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D97A5-5877-238E-08FE-A76EC7854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45341-3176-17DD-7645-78193C2FE3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81" y="-2551"/>
            <a:ext cx="12186640" cy="6860771"/>
          </a:xfrm>
        </p:spPr>
        <p:txBody>
          <a:bodyPr vert="horz" lIns="182880" tIns="45720" rIns="91440" bIns="45720" rtlCol="0" anchor="ctr">
            <a:noAutofit/>
          </a:bodyPr>
          <a:lstStyle/>
          <a:p>
            <a:r>
              <a:rPr lang="en-US" sz="4000" b="1" dirty="0">
                <a:latin typeface="Arial"/>
                <a:cs typeface="Arial"/>
              </a:rPr>
              <a:t> </a:t>
            </a:r>
            <a:r>
              <a:rPr lang="en-US" sz="4400" b="1" dirty="0">
                <a:latin typeface="Arial"/>
                <a:cs typeface="Arial"/>
              </a:rPr>
              <a:t>REAL-TIME DIRECTIONAL ANTENNA ALIGNMENT USING  REINFORCEMENT LEARNING AND RSSI FEEDBACK</a:t>
            </a:r>
            <a:br>
              <a:rPr lang="en-US" sz="4400" b="1" dirty="0">
                <a:latin typeface="Arial"/>
                <a:cs typeface="Arial"/>
              </a:rPr>
            </a:br>
            <a:br>
              <a:rPr lang="en-US" sz="4400" b="1" dirty="0">
                <a:latin typeface="Arial"/>
              </a:rPr>
            </a:br>
            <a:r>
              <a:rPr lang="en-US" sz="2200" dirty="0">
                <a:latin typeface="Arial"/>
                <a:cs typeface="Arial"/>
              </a:rPr>
              <a:t>Atul Tiwari           (THA079BEI006)</a:t>
            </a:r>
            <a:br>
              <a:rPr lang="en-US" sz="2200" dirty="0">
                <a:latin typeface="Arial"/>
              </a:rPr>
            </a:br>
            <a:r>
              <a:rPr lang="en-US" sz="2200" dirty="0">
                <a:latin typeface="Arial"/>
                <a:cs typeface="Arial"/>
              </a:rPr>
              <a:t>Bibek Joshi         (THA079BEI007)</a:t>
            </a:r>
            <a:br>
              <a:rPr lang="en-US" sz="2200" dirty="0">
                <a:latin typeface="Arial"/>
              </a:rPr>
            </a:br>
            <a:r>
              <a:rPr lang="en-US" sz="2200" dirty="0" err="1">
                <a:latin typeface="Arial"/>
                <a:cs typeface="Arial"/>
              </a:rPr>
              <a:t>Inisha</a:t>
            </a:r>
            <a:r>
              <a:rPr lang="en-US" sz="2200" dirty="0">
                <a:latin typeface="Arial"/>
                <a:cs typeface="Arial"/>
              </a:rPr>
              <a:t> </a:t>
            </a:r>
            <a:r>
              <a:rPr lang="en-US" sz="2200" dirty="0" err="1">
                <a:latin typeface="Arial"/>
                <a:cs typeface="Arial"/>
              </a:rPr>
              <a:t>Maharjan</a:t>
            </a:r>
            <a:r>
              <a:rPr lang="en-US" sz="2200" dirty="0">
                <a:latin typeface="Arial"/>
                <a:cs typeface="Arial"/>
              </a:rPr>
              <a:t>  (THA079BEI012)</a:t>
            </a:r>
            <a:br>
              <a:rPr lang="en-US" sz="2200" dirty="0">
                <a:latin typeface="Arial"/>
                <a:cs typeface="Arial"/>
              </a:rPr>
            </a:br>
            <a:r>
              <a:rPr lang="en-US" sz="2200" dirty="0" err="1">
                <a:latin typeface="Arial"/>
                <a:cs typeface="Arial"/>
              </a:rPr>
              <a:t>Suprim</a:t>
            </a:r>
            <a:r>
              <a:rPr lang="en-US" sz="2200" dirty="0">
                <a:latin typeface="Arial"/>
                <a:cs typeface="Arial"/>
              </a:rPr>
              <a:t> Koirala    (THA079BEI043)</a:t>
            </a:r>
            <a:br>
              <a:rPr lang="en-US" dirty="0"/>
            </a:br>
            <a:br>
              <a:rPr lang="en-US" sz="2200" b="1" dirty="0">
                <a:latin typeface="Arial"/>
              </a:rPr>
            </a:br>
            <a:r>
              <a:rPr lang="en-US" sz="2200" dirty="0">
                <a:latin typeface="Arial"/>
                <a:cs typeface="Arial"/>
              </a:rPr>
              <a:t>Supervisor:</a:t>
            </a:r>
            <a:br>
              <a:rPr lang="en-US" sz="2200" b="1" dirty="0">
                <a:latin typeface="Arial"/>
              </a:rPr>
            </a:br>
            <a:r>
              <a:rPr lang="en-US" sz="2200" b="0" dirty="0" err="1">
                <a:latin typeface="Arial"/>
                <a:cs typeface="Arial"/>
              </a:rPr>
              <a:t>Er</a:t>
            </a:r>
            <a:r>
              <a:rPr lang="en-US" sz="2200" b="0" dirty="0">
                <a:latin typeface="Arial"/>
                <a:cs typeface="Arial"/>
              </a:rPr>
              <a:t>. Saroj Shakya</a:t>
            </a:r>
            <a:br>
              <a:rPr lang="en-US" sz="2200" b="0" dirty="0">
                <a:latin typeface="Arial"/>
              </a:rPr>
            </a:br>
            <a:br>
              <a:rPr lang="en-US" sz="2200" b="0" dirty="0">
                <a:latin typeface="Arial"/>
              </a:rPr>
            </a:br>
            <a:r>
              <a:rPr lang="en-US" sz="2000" b="0" dirty="0">
                <a:latin typeface="Arial"/>
                <a:cs typeface="Arial"/>
              </a:rPr>
              <a:t>Department of Electronics and Computer Engineering</a:t>
            </a:r>
            <a:br>
              <a:rPr lang="en-US" sz="2000" b="0" dirty="0">
                <a:latin typeface="Arial"/>
              </a:rPr>
            </a:br>
            <a:r>
              <a:rPr lang="en-US" sz="2000" b="0" dirty="0">
                <a:latin typeface="Arial"/>
                <a:cs typeface="Arial"/>
              </a:rPr>
              <a:t>Institute of Engineering, Thapathali Campus</a:t>
            </a:r>
            <a:br>
              <a:rPr lang="en-US" sz="2000" b="0" dirty="0">
                <a:latin typeface="Arial"/>
              </a:rPr>
            </a:br>
            <a:br>
              <a:rPr lang="en-US" sz="2000" b="0" dirty="0">
                <a:latin typeface="Arial"/>
              </a:rPr>
            </a:br>
            <a:r>
              <a:rPr lang="en-US" sz="2000" b="0" dirty="0">
                <a:latin typeface="Arial"/>
                <a:cs typeface="Arial"/>
              </a:rPr>
              <a:t> March 29, 2026</a:t>
            </a:r>
            <a:endParaRPr lang="en-US" sz="4400" b="0" u="sng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33377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17894-8385-1DC5-9827-DF0AE3035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Presentation Outline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3A56E-2BDA-29DD-2C41-12E1671BD4E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dirty="0"/>
              <a:t> Motivation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dirty="0"/>
              <a:t> Introduction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dirty="0"/>
              <a:t> Objectives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dirty="0"/>
              <a:t> Scope of Project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dirty="0"/>
              <a:t> Methodology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dirty="0"/>
              <a:t> Results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76B3C0-3EA9-7B67-1CF8-79A57CA325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4530725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600"/>
              </a:spcBef>
              <a:buFont typeface="+mj-lt"/>
              <a:buAutoNum type="arabicPeriod" startAt="7"/>
            </a:pPr>
            <a:r>
              <a:rPr lang="en-US" dirty="0"/>
              <a:t> Analysis of Results</a:t>
            </a:r>
          </a:p>
          <a:p>
            <a:pPr>
              <a:lnSpc>
                <a:spcPct val="150000"/>
              </a:lnSpc>
              <a:spcBef>
                <a:spcPts val="600"/>
              </a:spcBef>
              <a:buFont typeface="+mj-lt"/>
              <a:buAutoNum type="arabicPeriod" startAt="7"/>
            </a:pPr>
            <a:r>
              <a:rPr lang="en-US" dirty="0"/>
              <a:t> Future Enhancements</a:t>
            </a:r>
          </a:p>
          <a:p>
            <a:pPr>
              <a:lnSpc>
                <a:spcPct val="150000"/>
              </a:lnSpc>
              <a:spcBef>
                <a:spcPts val="600"/>
              </a:spcBef>
              <a:buFont typeface="+mj-lt"/>
              <a:buAutoNum type="arabicPeriod" startAt="7"/>
            </a:pPr>
            <a:r>
              <a:rPr lang="en-US" dirty="0"/>
              <a:t> Project Applications</a:t>
            </a:r>
          </a:p>
          <a:p>
            <a:pPr>
              <a:lnSpc>
                <a:spcPct val="150000"/>
              </a:lnSpc>
              <a:spcBef>
                <a:spcPts val="600"/>
              </a:spcBef>
              <a:buFont typeface="+mj-lt"/>
              <a:buAutoNum type="arabicPeriod" startAt="7"/>
            </a:pPr>
            <a:r>
              <a:rPr lang="en-US" dirty="0"/>
              <a:t> Conclusion</a:t>
            </a:r>
          </a:p>
          <a:p>
            <a:pPr>
              <a:lnSpc>
                <a:spcPct val="150000"/>
              </a:lnSpc>
              <a:spcBef>
                <a:spcPts val="600"/>
              </a:spcBef>
              <a:buFont typeface="+mj-lt"/>
              <a:buAutoNum type="arabicPeriod" startAt="7"/>
            </a:pPr>
            <a:r>
              <a:rPr lang="en-US" dirty="0"/>
              <a:t> Appendices</a:t>
            </a:r>
          </a:p>
          <a:p>
            <a:pPr>
              <a:lnSpc>
                <a:spcPct val="150000"/>
              </a:lnSpc>
              <a:spcBef>
                <a:spcPts val="600"/>
              </a:spcBef>
              <a:buFont typeface="+mj-lt"/>
              <a:buAutoNum type="arabicPeriod" startAt="7"/>
            </a:pPr>
            <a:r>
              <a:rPr lang="en-US" dirty="0"/>
              <a:t> References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682AE1-C165-F9D9-E2E8-A54239C33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29 March,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44A93-D4E3-14D2-DA36-699ABAA1E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EE12-10DD-47FC-9BDC-E9BB437D84A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563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E822A-930F-A524-951D-156D6B0F6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7CFE8-109D-2A5A-8884-A2E1BDAC23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>
              <a:lnSpc>
                <a:spcPct val="150000"/>
              </a:lnSpc>
            </a:pPr>
            <a:r>
              <a:rPr lang="en-US" dirty="0"/>
              <a:t>Directional antennas focus energy to improve SNR &amp; range</a:t>
            </a:r>
          </a:p>
          <a:p>
            <a:pPr fontAlgn="base">
              <a:lnSpc>
                <a:spcPct val="150000"/>
              </a:lnSpc>
            </a:pPr>
            <a:r>
              <a:rPr lang="en-US" dirty="0"/>
              <a:t>Alignment crucial for reliable communication</a:t>
            </a:r>
          </a:p>
          <a:p>
            <a:pPr fontAlgn="base">
              <a:lnSpc>
                <a:spcPct val="150000"/>
              </a:lnSpc>
            </a:pPr>
            <a:r>
              <a:rPr lang="en-US" dirty="0"/>
              <a:t>Manual alignment is time-consuming and error-prone</a:t>
            </a:r>
          </a:p>
          <a:p>
            <a:pPr fontAlgn="base">
              <a:lnSpc>
                <a:spcPct val="150000"/>
              </a:lnSpc>
            </a:pPr>
            <a:r>
              <a:rPr lang="en-US" dirty="0"/>
              <a:t>Existing automated methods require costly RF hardware</a:t>
            </a:r>
          </a:p>
          <a:p>
            <a:pPr fontAlgn="base">
              <a:lnSpc>
                <a:spcPct val="150000"/>
              </a:lnSpc>
            </a:pPr>
            <a:r>
              <a:rPr lang="en-US" dirty="0"/>
              <a:t>Low-cost, </a:t>
            </a:r>
            <a:r>
              <a:rPr lang="en-US" dirty="0" err="1"/>
              <a:t>RSSI</a:t>
            </a:r>
            <a:r>
              <a:rPr lang="en-US" dirty="0"/>
              <a:t>-based autonomous alignment is needed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328F8-3ED4-7EB5-A914-B4F7CDC74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29 March,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5BE8EE-1991-8F1C-C949-7EABDD458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EE12-10DD-47FC-9BDC-E9BB437D84A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564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8E790-9F14-A207-59D2-93FF086F5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Motivation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07AA489-CB6D-7460-1FEA-8199E13217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44"/>
          <a:stretch/>
        </p:blipFill>
        <p:spPr>
          <a:xfrm>
            <a:off x="1603522" y="1506682"/>
            <a:ext cx="8984955" cy="433300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9CCEB-A42E-EDEB-4985-63DD41D9F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29 March,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45861C-0DFA-6AFA-47EC-430552E6C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EE12-10DD-47FC-9BDC-E9BB437D84A8}" type="slidenum">
              <a:rPr lang="en-US" smtClean="0"/>
              <a:t>4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9BC3D3-C0D2-6CE1-E186-204A1B2A05D6}"/>
              </a:ext>
            </a:extLst>
          </p:cNvPr>
          <p:cNvSpPr txBox="1"/>
          <p:nvPr/>
        </p:nvSpPr>
        <p:spPr>
          <a:xfrm>
            <a:off x="4076307" y="6048573"/>
            <a:ext cx="40393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/>
              <a:t>Figure: Image Generated by </a:t>
            </a:r>
            <a:r>
              <a:rPr lang="en-US" sz="1400" i="1" dirty="0" err="1"/>
              <a:t>NanoBanana</a:t>
            </a:r>
            <a:r>
              <a:rPr lang="en-US" sz="1400" i="1" dirty="0"/>
              <a:t> (Gemini)</a:t>
            </a:r>
            <a:endParaRPr lang="en-US" sz="1400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64881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19521-F585-3078-FAF1-DAE26D71C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F22FA-FB40-FE67-F925-AF2C4201D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>
              <a:lnSpc>
                <a:spcPct val="100000"/>
              </a:lnSpc>
              <a:spcAft>
                <a:spcPts val="1200"/>
              </a:spcAft>
            </a:pPr>
            <a:r>
              <a:rPr lang="en-US" sz="2400" dirty="0"/>
              <a:t>To design and implement a low-cost embedded system capable of measuring RSSI in real time and mechanically steering a directional antenna </a:t>
            </a:r>
          </a:p>
          <a:p>
            <a:pPr fontAlgn="base">
              <a:lnSpc>
                <a:spcPct val="100000"/>
              </a:lnSpc>
              <a:spcAft>
                <a:spcPts val="1200"/>
              </a:spcAft>
            </a:pPr>
            <a:r>
              <a:rPr lang="en-US" sz="2400" dirty="0"/>
              <a:t>To develop and evaluate lightweight reinforcement learning-based alignment strategies, comparing their performance against baseline methods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A2FA3-82B1-2741-C577-697483795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29 March,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834DA-11B8-57A2-373A-421DDA201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EE12-10DD-47FC-9BDC-E9BB437D84A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334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296FD-B006-8474-9091-0D865D3B5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Scope of Project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75C9E-4D0A-06D3-CA0E-07CEF2FDB9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4841" y="1662461"/>
            <a:ext cx="5181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dirty="0"/>
              <a:t>   Capabilities</a:t>
            </a:r>
          </a:p>
          <a:p>
            <a:pPr marL="914400" lvl="1" indent="-457200">
              <a:lnSpc>
                <a:spcPct val="110000"/>
              </a:lnSpc>
              <a:spcAft>
                <a:spcPts val="1200"/>
              </a:spcAft>
            </a:pPr>
            <a:r>
              <a:rPr lang="en-US" sz="2200" dirty="0"/>
              <a:t>Implement stepper-controlled antenna using microcontroller</a:t>
            </a:r>
          </a:p>
          <a:p>
            <a:pPr marL="914400" lvl="1" indent="-457200">
              <a:lnSpc>
                <a:spcPct val="110000"/>
              </a:lnSpc>
              <a:spcAft>
                <a:spcPts val="1200"/>
              </a:spcAft>
            </a:pPr>
            <a:r>
              <a:rPr lang="en-US" sz="2200" dirty="0"/>
              <a:t>Develop baseline RSSI scanning and hill-climb algorithms </a:t>
            </a:r>
          </a:p>
          <a:p>
            <a:pPr marL="914400" lvl="1" indent="-457200">
              <a:lnSpc>
                <a:spcPct val="110000"/>
              </a:lnSpc>
              <a:spcAft>
                <a:spcPts val="1200"/>
              </a:spcAft>
            </a:pPr>
            <a:r>
              <a:rPr lang="en-US" sz="2200" dirty="0"/>
              <a:t>Integrate lightweight reinforcement learning for antenna control</a:t>
            </a:r>
          </a:p>
          <a:p>
            <a:pPr marL="914400" lvl="1" indent="-457200">
              <a:lnSpc>
                <a:spcPct val="110000"/>
              </a:lnSpc>
              <a:spcAft>
                <a:spcPts val="1200"/>
              </a:spcAft>
            </a:pPr>
            <a:r>
              <a:rPr lang="en-US" sz="2200" dirty="0"/>
              <a:t>Evaluate performance in static and dynamic environments</a:t>
            </a:r>
          </a:p>
          <a:p>
            <a:pPr marL="914400" lvl="1" indent="-457200">
              <a:lnSpc>
                <a:spcPct val="110000"/>
              </a:lnSpc>
            </a:pPr>
            <a:endParaRPr lang="en-US" dirty="0"/>
          </a:p>
          <a:p>
            <a:pPr lvl="1">
              <a:lnSpc>
                <a:spcPct val="110000"/>
              </a:lnSpc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36B818-0F53-77EB-A002-EDE4FF0D3B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62461"/>
            <a:ext cx="5181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10000"/>
              </a:lnSpc>
              <a:spcAft>
                <a:spcPts val="1800"/>
              </a:spcAft>
              <a:buNone/>
            </a:pPr>
            <a:r>
              <a:rPr lang="en-US" dirty="0"/>
              <a:t>  Limitations</a:t>
            </a:r>
          </a:p>
          <a:p>
            <a:pPr marL="914400" lvl="1" indent="-457200">
              <a:lnSpc>
                <a:spcPct val="110000"/>
              </a:lnSpc>
              <a:spcAft>
                <a:spcPts val="1200"/>
              </a:spcAft>
            </a:pPr>
            <a:r>
              <a:rPr lang="en-US" sz="2000" dirty="0"/>
              <a:t>Advanced multi-antenna systems like MIMO, phased arrays</a:t>
            </a:r>
          </a:p>
          <a:p>
            <a:pPr marL="914400" lvl="1" indent="-457200">
              <a:lnSpc>
                <a:spcPct val="110000"/>
              </a:lnSpc>
              <a:spcAft>
                <a:spcPts val="1200"/>
              </a:spcAft>
            </a:pPr>
            <a:r>
              <a:rPr lang="en-US" sz="2000" dirty="0"/>
              <a:t>High-frequency mm-Wave and beamforming techniques</a:t>
            </a:r>
          </a:p>
          <a:p>
            <a:pPr marL="914400" lvl="1" indent="-457200">
              <a:lnSpc>
                <a:spcPct val="110000"/>
              </a:lnSpc>
              <a:spcAft>
                <a:spcPts val="1200"/>
              </a:spcAft>
            </a:pPr>
            <a:r>
              <a:rPr lang="en-US" sz="2000" dirty="0"/>
              <a:t>Transmitter-side adaptation or coordinated alignment</a:t>
            </a:r>
          </a:p>
          <a:p>
            <a:pPr marL="914400" lvl="1" indent="-457200">
              <a:lnSpc>
                <a:spcPct val="110000"/>
              </a:lnSpc>
              <a:spcAft>
                <a:spcPts val="1200"/>
              </a:spcAft>
            </a:pPr>
            <a:r>
              <a:rPr lang="en-US" sz="2000" dirty="0"/>
              <a:t>Full mobility and high-speed movement scenarios</a:t>
            </a:r>
          </a:p>
          <a:p>
            <a:pPr marL="914400" lvl="1" indent="-457200">
              <a:lnSpc>
                <a:spcPct val="110000"/>
              </a:lnSpc>
              <a:spcAft>
                <a:spcPts val="1200"/>
              </a:spcAft>
            </a:pPr>
            <a:r>
              <a:rPr lang="en-US" sz="2000" dirty="0"/>
              <a:t>RSSI variability limits experimental repeatability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E8A17F-6AEB-F53C-4BFF-1AE746EAF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29 March,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97C5E-3554-5659-0BEC-6E2DDE2A1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EE12-10DD-47FC-9BDC-E9BB437D84A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225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4CD42-B6CD-D721-493B-FE7C962A5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590800" y="2774950"/>
            <a:ext cx="6858000" cy="1325563"/>
          </a:xfrm>
        </p:spPr>
        <p:txBody>
          <a:bodyPr/>
          <a:lstStyle/>
          <a:p>
            <a:r>
              <a:rPr lang="en-US" dirty="0"/>
              <a:t>Methodology (1)</a:t>
            </a:r>
            <a:br>
              <a:rPr lang="en-US" dirty="0"/>
            </a:br>
            <a:r>
              <a:rPr lang="en-US" dirty="0"/>
              <a:t>System Block Diagram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582E883A-0DCF-7F8F-2426-ACF394BAC4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9203" y="968461"/>
            <a:ext cx="9742487" cy="493854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67632-0CF0-304B-F9DF-4C1860FC8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29 March,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6AFDB2-B7B3-17F1-C4FF-03A11E23E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EE12-10DD-47FC-9BDC-E9BB437D84A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986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524D3-68E8-F9C5-5204-B05A679EC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(2)</a:t>
            </a:r>
            <a:br>
              <a:rPr lang="en-US" b="0" dirty="0">
                <a:effectLst/>
              </a:rPr>
            </a:br>
            <a:r>
              <a:rPr lang="en-US" dirty="0"/>
              <a:t>Hardware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48D78-A2CE-2339-E3C0-5B0F85F28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fontAlgn="base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Antenna: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High-gain directional Yagi PCB Type.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Processor: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ESP32-S3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for logic execution.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Actuator: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NEMA 17 Stepper Motor for precision.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Driver: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A4988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driver for smooth motor control.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Power: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External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12V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supply for motor torque.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913FF-C313-F992-E2A0-19F2CEFE7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29 March,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641DD2-E70F-224A-C3C8-B4E561289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EE12-10DD-47FC-9BDC-E9BB437D84A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263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84C79-3E21-0B51-AED2-1F87F6B81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Methodology (3)</a:t>
            </a:r>
            <a:br>
              <a:rPr lang="en-US" b="0" dirty="0">
                <a:effectLst/>
              </a:rPr>
            </a:br>
            <a:r>
              <a:rPr lang="en-US" b="1" dirty="0"/>
              <a:t>Source and Receiver Configuration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A0B5B1-7756-BFBC-FE51-E134A18D8A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Transmitter</a:t>
            </a:r>
            <a:r>
              <a:rPr lang="en-US" dirty="0"/>
              <a:t> Node</a:t>
            </a:r>
            <a:r>
              <a:rPr lang="en-US" b="0" dirty="0"/>
              <a:t>​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537D39-5B06-45B7-DE07-C214F77EBAB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fontAlgn="base">
              <a:lnSpc>
                <a:spcPct val="100000"/>
              </a:lnSpc>
              <a:spcBef>
                <a:spcPts val="1800"/>
              </a:spcBef>
            </a:pPr>
            <a:r>
              <a:rPr lang="en-US" sz="2400" dirty="0" err="1"/>
              <a:t>ESP32</a:t>
            </a:r>
            <a:r>
              <a:rPr lang="en-US" sz="2400" dirty="0"/>
              <a:t> microcontroller​</a:t>
            </a:r>
          </a:p>
          <a:p>
            <a:pPr fontAlgn="base">
              <a:lnSpc>
                <a:spcPct val="100000"/>
              </a:lnSpc>
              <a:spcBef>
                <a:spcPts val="1200"/>
              </a:spcBef>
            </a:pPr>
            <a:r>
              <a:rPr lang="en-US" sz="2400" dirty="0"/>
              <a:t>Directional antenna​</a:t>
            </a:r>
          </a:p>
          <a:p>
            <a:pPr fontAlgn="base">
              <a:lnSpc>
                <a:spcPct val="100000"/>
              </a:lnSpc>
              <a:spcBef>
                <a:spcPts val="1200"/>
              </a:spcBef>
            </a:pPr>
            <a:r>
              <a:rPr lang="en-US" sz="2400" dirty="0"/>
              <a:t>Periodic Data Transfer</a:t>
            </a:r>
          </a:p>
          <a:p>
            <a:pPr>
              <a:lnSpc>
                <a:spcPct val="100000"/>
              </a:lnSpc>
            </a:pPr>
            <a:endParaRPr lang="en-US" sz="1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880A7-4632-05F4-FC89-456520DE0D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2800" dirty="0"/>
              <a:t>Receiver</a:t>
            </a:r>
            <a:r>
              <a:rPr lang="en-US" dirty="0"/>
              <a:t> Node</a:t>
            </a:r>
            <a:r>
              <a:rPr lang="en-US" b="0" dirty="0"/>
              <a:t>​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7971ED-608C-3C5C-8409-AF32CBBF661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fontAlgn="base">
              <a:lnSpc>
                <a:spcPct val="100000"/>
              </a:lnSpc>
            </a:pPr>
            <a:r>
              <a:rPr lang="en-US" sz="2400" dirty="0" err="1"/>
              <a:t>ESP32</a:t>
            </a:r>
            <a:r>
              <a:rPr lang="en-US" sz="2400" dirty="0"/>
              <a:t> microcontroller​</a:t>
            </a:r>
          </a:p>
          <a:p>
            <a:pPr fontAlgn="base"/>
            <a:r>
              <a:rPr lang="en-US" sz="2400" dirty="0"/>
              <a:t>Directional antenna​</a:t>
            </a:r>
          </a:p>
          <a:p>
            <a:pPr fontAlgn="base"/>
            <a:r>
              <a:rPr lang="en-US" sz="2400" dirty="0"/>
              <a:t>Stepper motor assembly</a:t>
            </a:r>
          </a:p>
          <a:p>
            <a:pPr fontAlgn="base"/>
            <a:r>
              <a:rPr lang="en-US" sz="2400" dirty="0"/>
              <a:t>Alignment Algorithm</a:t>
            </a:r>
          </a:p>
          <a:p>
            <a:endParaRPr lang="en-US" sz="240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00DD22-56FC-2E93-9A5A-588CD0959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29 March, 2026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9C65128-C42D-77C5-0934-EC9AE0511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EE12-10DD-47FC-9BDC-E9BB437D84A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328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499F3-0C2D-68D9-5CAC-46D35F3A2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(4)</a:t>
            </a:r>
            <a:br>
              <a:rPr lang="en-US" b="0" dirty="0">
                <a:effectLst/>
              </a:rPr>
            </a:br>
            <a:r>
              <a:rPr lang="en-US" dirty="0"/>
              <a:t>Software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C1A8F-6DA3-F371-39DA-24BF807A0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>
              <a:lnSpc>
                <a:spcPct val="100000"/>
              </a:lnSpc>
              <a:spcBef>
                <a:spcPts val="1800"/>
              </a:spcBef>
            </a:pPr>
            <a:r>
              <a:rPr lang="en-US" dirty="0"/>
              <a:t>Arduino IDE and </a:t>
            </a:r>
            <a:r>
              <a:rPr lang="en-US" dirty="0" err="1"/>
              <a:t>PlatformIO</a:t>
            </a:r>
            <a:r>
              <a:rPr lang="en-US" dirty="0"/>
              <a:t> with </a:t>
            </a:r>
            <a:r>
              <a:rPr lang="en-US" dirty="0" err="1"/>
              <a:t>ESP32-S3</a:t>
            </a:r>
            <a:r>
              <a:rPr lang="en-US" dirty="0"/>
              <a:t> Core</a:t>
            </a:r>
          </a:p>
          <a:p>
            <a:pPr fontAlgn="base">
              <a:lnSpc>
                <a:spcPct val="100000"/>
              </a:lnSpc>
              <a:spcBef>
                <a:spcPts val="1800"/>
              </a:spcBef>
            </a:pPr>
            <a:r>
              <a:rPr lang="en-US" dirty="0"/>
              <a:t>Embedded C/C++ Firmware Development</a:t>
            </a:r>
          </a:p>
          <a:p>
            <a:pPr fontAlgn="base">
              <a:lnSpc>
                <a:spcPct val="100000"/>
              </a:lnSpc>
              <a:spcBef>
                <a:spcPts val="1800"/>
              </a:spcBef>
            </a:pPr>
            <a:r>
              <a:rPr lang="en-US" dirty="0"/>
              <a:t>Lightweight Q-Learning Algorithm</a:t>
            </a:r>
          </a:p>
          <a:p>
            <a:pPr fontAlgn="base">
              <a:lnSpc>
                <a:spcPct val="100000"/>
              </a:lnSpc>
              <a:spcBef>
                <a:spcPts val="1800"/>
              </a:spcBef>
            </a:pPr>
            <a:r>
              <a:rPr lang="en-US" dirty="0"/>
              <a:t>Serial Monitor and Plotter</a:t>
            </a:r>
          </a:p>
          <a:p>
            <a:pPr fontAlgn="base">
              <a:lnSpc>
                <a:spcPct val="100000"/>
              </a:lnSpc>
              <a:spcBef>
                <a:spcPts val="1800"/>
              </a:spcBef>
            </a:pPr>
            <a:r>
              <a:rPr lang="en-US" dirty="0"/>
              <a:t>Python for Data Analysis, Simulation</a:t>
            </a:r>
          </a:p>
          <a:p>
            <a:pPr fontAlgn="base">
              <a:lnSpc>
                <a:spcPct val="100000"/>
              </a:lnSpc>
              <a:spcBef>
                <a:spcPts val="1800"/>
              </a:spcBef>
            </a:pPr>
            <a:r>
              <a:rPr lang="en-US" dirty="0"/>
              <a:t>Matplotlib for Data Visualization, </a:t>
            </a:r>
            <a:r>
              <a:rPr lang="en-US" dirty="0" err="1"/>
              <a:t>KiCad</a:t>
            </a:r>
            <a:r>
              <a:rPr lang="en-US" dirty="0"/>
              <a:t> for circuit diagrams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773A7-CA58-DFD0-4E82-E155E202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29 March,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9220EF-6476-4C78-566C-3D1BA3A7D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EE12-10DD-47FC-9BDC-E9BB437D84A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857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B9E4E-EA1C-5CDA-F007-FD809EEC1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590800" y="2766219"/>
            <a:ext cx="6858000" cy="1325563"/>
          </a:xfrm>
        </p:spPr>
        <p:txBody>
          <a:bodyPr/>
          <a:lstStyle/>
          <a:p>
            <a:r>
              <a:rPr lang="en-US" dirty="0"/>
              <a:t>Methodology (5)</a:t>
            </a:r>
            <a:br>
              <a:rPr lang="en-US" b="0" dirty="0">
                <a:effectLst/>
              </a:rPr>
            </a:br>
            <a:r>
              <a:rPr lang="en-US" dirty="0"/>
              <a:t>System Flow Diagram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E7854B8-4A17-E745-FCC1-04982B303B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1347" y="358775"/>
            <a:ext cx="4669306" cy="622141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FC1AB-F7F2-1A9F-8239-7B639652A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29 March,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AE288B-118B-EDE3-A49D-8295E4544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EE12-10DD-47FC-9BDC-E9BB437D84A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138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BF1A3-74FE-D670-4727-6901DB8D0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(6)</a:t>
            </a:r>
            <a:br>
              <a:rPr lang="en-US" b="0" dirty="0">
                <a:effectLst/>
              </a:rPr>
            </a:br>
            <a:r>
              <a:rPr lang="en-US" dirty="0"/>
              <a:t>Baseline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E5EE4-00DA-80B0-E609-F58BB860B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base"/>
            <a:r>
              <a:rPr lang="en-US" b="1" dirty="0"/>
              <a:t>Exhaustive angular scanning</a:t>
            </a:r>
          </a:p>
          <a:p>
            <a:pPr marL="0" indent="0" fontAlgn="base">
              <a:buNone/>
            </a:pPr>
            <a:r>
              <a:rPr lang="en-GB" sz="2400" dirty="0"/>
              <a:t>This approach maps the entire search space to find the absolute best location, providing high accuracy but low efficiency.</a:t>
            </a:r>
            <a:endParaRPr lang="en-US" sz="2400" dirty="0"/>
          </a:p>
          <a:p>
            <a:pPr fontAlgn="base"/>
            <a:r>
              <a:rPr lang="en-US" b="1" dirty="0"/>
              <a:t>RSSI-based hill-climbing</a:t>
            </a:r>
          </a:p>
          <a:p>
            <a:pPr marL="0" indent="0" fontAlgn="base">
              <a:buNone/>
            </a:pPr>
            <a:r>
              <a:rPr lang="en-GB" sz="2400" dirty="0"/>
              <a:t>This method starts at a random point and iteratively moves to adjacent points with higher RSSI values until it hits a local maximum. It is fast but can get trapped in local maxima.</a:t>
            </a:r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5E80C-7211-228B-DB65-52C429B6B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29 March,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C481AA-5A8E-1FF6-3279-D7AD263EB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EE12-10DD-47FC-9BDC-E9BB437D84A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741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F3DD3-90B5-89C4-FB24-32423A9BD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(7)</a:t>
            </a:r>
            <a:br>
              <a:rPr lang="en-US" b="0" dirty="0">
                <a:effectLst/>
              </a:rPr>
            </a:br>
            <a:r>
              <a:rPr lang="en-US" dirty="0"/>
              <a:t>Reinforcement Learning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D201F-83A8-98A4-4921-59CC36901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Model-free control paradigm</a:t>
            </a:r>
          </a:p>
          <a:p>
            <a:pPr fontAlgn="base"/>
            <a:r>
              <a:rPr lang="en-US" dirty="0"/>
              <a:t>Learn from interaction &amp; rewards</a:t>
            </a:r>
          </a:p>
          <a:p>
            <a:pPr fontAlgn="base"/>
            <a:r>
              <a:rPr lang="en-US" dirty="0"/>
              <a:t>Optimize antenna orientation over time</a:t>
            </a:r>
          </a:p>
          <a:p>
            <a:pPr fontAlgn="base"/>
            <a:r>
              <a:rPr lang="en-US" dirty="0"/>
              <a:t>Tabular Q-Learning</a:t>
            </a:r>
          </a:p>
          <a:p>
            <a:pPr fontAlgn="base"/>
            <a:r>
              <a:rPr lang="en-US" dirty="0"/>
              <a:t>Suitable for low-cost embedded systems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B0DD5-9958-912A-1980-606C1DF8F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29 March,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9CADE6-4079-8B8F-9556-AC1AB52AE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EE12-10DD-47FC-9BDC-E9BB437D84A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7555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C82BC-7C1F-485A-7B2B-56DEF10D8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(8)</a:t>
            </a:r>
            <a:br>
              <a:rPr lang="en-US" b="0" dirty="0">
                <a:effectLst/>
              </a:rPr>
            </a:br>
            <a:r>
              <a:rPr lang="en-US" dirty="0"/>
              <a:t>RL Model Design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FA19F-3EC2-EF07-8ACE-6BCBDB885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29 March,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71195C-4922-9B82-5A03-97E1D8E73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EE12-10DD-47FC-9BDC-E9BB437D84A8}" type="slidenum">
              <a:rPr lang="en-US" smtClean="0"/>
              <a:t>14</a:t>
            </a:fld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7FCD123-7136-B241-B647-53A3E8CC62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841" y="1825625"/>
            <a:ext cx="7886318" cy="4351338"/>
          </a:xfrm>
        </p:spPr>
      </p:pic>
    </p:spTree>
    <p:extLst>
      <p:ext uri="{BB962C8B-B14F-4D97-AF65-F5344CB8AC3E}">
        <p14:creationId xmlns:p14="http://schemas.microsoft.com/office/powerpoint/2010/main" val="20151669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10758-EA76-22EE-E86A-3A2D799FA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605961" y="2766219"/>
            <a:ext cx="6858003" cy="1325563"/>
          </a:xfrm>
        </p:spPr>
        <p:txBody>
          <a:bodyPr/>
          <a:lstStyle/>
          <a:p>
            <a:r>
              <a:rPr lang="en-US" dirty="0"/>
              <a:t>Methodology (9)</a:t>
            </a:r>
            <a:br>
              <a:rPr lang="en-US" b="0" dirty="0">
                <a:effectLst/>
              </a:rPr>
            </a:br>
            <a:r>
              <a:rPr lang="en-US" dirty="0"/>
              <a:t>RL Control Flow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B1403-8B52-D808-2F9F-71955BF6F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29 March,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EACEA7-3EB3-E34D-F9C8-1C4325654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EE12-10DD-47FC-9BDC-E9BB437D84A8}" type="slidenum">
              <a:rPr lang="en-US" smtClean="0"/>
              <a:t>15</a:t>
            </a:fld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23242A5-4C31-3843-B6FF-BA3AA0AAAA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7309" y="508968"/>
            <a:ext cx="3581950" cy="5636822"/>
          </a:xfrm>
        </p:spPr>
      </p:pic>
    </p:spTree>
    <p:extLst>
      <p:ext uri="{BB962C8B-B14F-4D97-AF65-F5344CB8AC3E}">
        <p14:creationId xmlns:p14="http://schemas.microsoft.com/office/powerpoint/2010/main" val="29053134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7D173-C586-2F39-1156-40CFF4BD2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(10)</a:t>
            </a:r>
            <a:br>
              <a:rPr lang="en-US" b="0" dirty="0">
                <a:effectLst/>
              </a:rPr>
            </a:br>
            <a:r>
              <a:rPr lang="en-US" dirty="0"/>
              <a:t>Reinforcement Learning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1EE92-5CFA-71F3-1836-6E2BF2BAB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fontAlgn="base"/>
            <a:r>
              <a:rPr lang="en-US" sz="2400" b="1" dirty="0"/>
              <a:t>State Space:</a:t>
            </a:r>
          </a:p>
          <a:p>
            <a:pPr lvl="1" fontAlgn="base"/>
            <a:r>
              <a:rPr lang="en-US" sz="2000" dirty="0"/>
              <a:t>Current RSSI level and signal trend.</a:t>
            </a:r>
          </a:p>
          <a:p>
            <a:pPr lvl="1" fontAlgn="base"/>
            <a:r>
              <a:rPr lang="en-US" sz="2000" dirty="0"/>
              <a:t>Current angular position of the antenna.</a:t>
            </a:r>
          </a:p>
          <a:p>
            <a:pPr lvl="1" fontAlgn="base"/>
            <a:r>
              <a:rPr lang="en-US" sz="2000" dirty="0"/>
              <a:t>Thresholds classify RSSI increase/decrease/stable</a:t>
            </a:r>
          </a:p>
          <a:p>
            <a:pPr fontAlgn="base"/>
            <a:r>
              <a:rPr lang="en-US" sz="2400" b="1" dirty="0"/>
              <a:t>Action Space:</a:t>
            </a:r>
          </a:p>
          <a:p>
            <a:pPr lvl="1" fontAlgn="base"/>
            <a:r>
              <a:rPr lang="en-US" sz="2000" dirty="0"/>
              <a:t>Rotate clockwise, counter-clockwise, or stay.</a:t>
            </a:r>
          </a:p>
          <a:p>
            <a:pPr lvl="1" fontAlgn="base"/>
            <a:r>
              <a:rPr lang="en-US" sz="2000" dirty="0"/>
              <a:t>Step size trade-off: precision vs. speed</a:t>
            </a:r>
          </a:p>
          <a:p>
            <a:pPr fontAlgn="base"/>
            <a:r>
              <a:rPr lang="en-US" sz="2400" b="1" dirty="0"/>
              <a:t>Reward Function:</a:t>
            </a:r>
          </a:p>
          <a:p>
            <a:pPr lvl="1" fontAlgn="base"/>
            <a:r>
              <a:rPr lang="en-US" sz="2000" dirty="0"/>
              <a:t>Positive reward for increased signal strength.</a:t>
            </a:r>
          </a:p>
          <a:p>
            <a:pPr lvl="1" fontAlgn="base"/>
            <a:r>
              <a:rPr lang="en-US" sz="2000" dirty="0"/>
              <a:t>Penalty for signal drops or unnecessary movement.</a:t>
            </a:r>
          </a:p>
          <a:p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E63C4-C7C7-C900-A2E6-F14DD3B67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29 March,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2E74E7-1C08-F814-446F-F733FB0DC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EE12-10DD-47FC-9BDC-E9BB437D84A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2965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7D173-C586-2F39-1156-40CFF4BD2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(11)</a:t>
            </a:r>
            <a:br>
              <a:rPr lang="en-US" b="0" dirty="0">
                <a:effectLst/>
              </a:rPr>
            </a:br>
            <a:r>
              <a:rPr lang="en-US" dirty="0"/>
              <a:t>RL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1EE92-5CFA-71F3-1836-6E2BF2BAB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dirty="0"/>
              <a:t>Dependence on discretization</a:t>
            </a:r>
          </a:p>
          <a:p>
            <a:r>
              <a:rPr lang="en-GB" dirty="0"/>
              <a:t>Generalization limits</a:t>
            </a:r>
          </a:p>
          <a:p>
            <a:r>
              <a:rPr lang="en-GB" dirty="0"/>
              <a:t>Sensitivity to the training environment</a:t>
            </a:r>
          </a:p>
          <a:p>
            <a:endParaRPr lang="en-GB" dirty="0"/>
          </a:p>
          <a:p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E63C4-C7C7-C900-A2E6-F14DD3B67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29 March,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2E74E7-1C08-F814-446F-F733FB0DC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EE12-10DD-47FC-9BDC-E9BB437D84A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0004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69681-086F-00AF-B704-D2E55B9C2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(12)</a:t>
            </a:r>
            <a:br>
              <a:rPr lang="en-US" b="0" dirty="0">
                <a:effectLst/>
              </a:rPr>
            </a:br>
            <a:r>
              <a:rPr lang="en-US" dirty="0"/>
              <a:t>Experimental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B4E8E-F0F2-8D5F-A390-BD0A05E6D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Indoor lab/corridor for multipath testing</a:t>
            </a:r>
          </a:p>
          <a:p>
            <a:pPr fontAlgn="base"/>
            <a:r>
              <a:rPr lang="en-US" dirty="0"/>
              <a:t>Outdoor line-of-sight environment</a:t>
            </a:r>
          </a:p>
          <a:p>
            <a:pPr fontAlgn="base"/>
            <a:r>
              <a:rPr lang="en-US" dirty="0"/>
              <a:t>Random initial antenna misalignment</a:t>
            </a:r>
          </a:p>
          <a:p>
            <a:pPr fontAlgn="base"/>
            <a:r>
              <a:rPr lang="en-US" dirty="0"/>
              <a:t>Repeated trials (N ≥ 10) for reliability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851A1-D38C-2506-687A-CB77A54DC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29 March,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BA04B3-C7A2-557F-197A-E646713A3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EE12-10DD-47FC-9BDC-E9BB437D84A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6749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1A7D2-E612-B640-4DF6-EF7407155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Methodology (13)</a:t>
            </a:r>
            <a:br>
              <a:rPr lang="en-US" sz="4000" b="0" dirty="0">
                <a:effectLst/>
              </a:rPr>
            </a:br>
            <a:r>
              <a:rPr lang="en-US" sz="4000" dirty="0"/>
              <a:t>Evaluation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72941-065A-8CD2-1E94-FF732CADD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RSSI (primary signal strength)</a:t>
            </a:r>
          </a:p>
          <a:p>
            <a:r>
              <a:rPr lang="en-GB" dirty="0"/>
              <a:t>Movement Count</a:t>
            </a:r>
          </a:p>
          <a:p>
            <a:pPr fontAlgn="base"/>
            <a:r>
              <a:rPr lang="en-US" dirty="0"/>
              <a:t>Convergence Time ​</a:t>
            </a:r>
          </a:p>
          <a:p>
            <a:r>
              <a:rPr lang="en-GB" dirty="0"/>
              <a:t>Success Rate</a:t>
            </a:r>
          </a:p>
          <a:p>
            <a:r>
              <a:rPr lang="en-GB" dirty="0"/>
              <a:t>RSSI Variability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885327-5F19-C729-41F2-6856805B6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29 March,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6008BF-97C5-9DBA-F93F-F2EA17A26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EE12-10DD-47FC-9BDC-E9BB437D84A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3559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CD1D4-AF74-5B6F-DAE7-D5B109140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59524"/>
            <a:ext cx="10660913" cy="107953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Results (1)</a:t>
            </a:r>
            <a:r>
              <a:rPr lang="en-US" sz="3600" dirty="0"/>
              <a:t> </a:t>
            </a:r>
            <a:br>
              <a:rPr lang="en-US" sz="3600" dirty="0"/>
            </a:br>
            <a:r>
              <a:rPr lang="en-US" sz="3600" b="1" dirty="0"/>
              <a:t>Exhaustive Scanning</a:t>
            </a:r>
            <a:endParaRPr lang="en-US" sz="3600" dirty="0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0804DB39-A16C-05B5-444C-1F6128534FE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0" r="6800"/>
          <a:stretch>
            <a:fillRect/>
          </a:stretch>
        </p:blipFill>
        <p:spPr>
          <a:xfrm>
            <a:off x="5328501" y="1582738"/>
            <a:ext cx="6172200" cy="428625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DC9C15-0C85-4515-B69C-560AEF969D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6420" y="2061638"/>
            <a:ext cx="4325216" cy="4294712"/>
          </a:xfrm>
        </p:spPr>
        <p:txBody>
          <a:bodyPr>
            <a:normAutofit lnSpcReduction="10000"/>
          </a:bodyPr>
          <a:lstStyle/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Global maximum RSSI of −30.14 dBm at an antenna orientation of (𝜃pan, 𝜃tilt) = (88°, 90°)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945 mechanical steps and 18900 RSSI samples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Approximately 67.7 seconds of convergence time</a:t>
            </a:r>
          </a:p>
          <a:p>
            <a:br>
              <a:rPr lang="en-US" sz="18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8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2EAB2D-A483-25B8-3898-75E90E80A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29 March,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358C8F-44CC-377A-5AB9-06B6FC22D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EE12-10DD-47FC-9BDC-E9BB437D84A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7572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5C0AA-CB87-207C-B0F2-7AC1C3082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Results (2)</a:t>
            </a:r>
            <a:br>
              <a:rPr lang="en-US" b="0" dirty="0">
                <a:effectLst/>
              </a:rPr>
            </a:br>
            <a:r>
              <a:rPr lang="en-US" b="1" dirty="0"/>
              <a:t>Hill Climbing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5F09580-BF2A-0507-2E6C-97151F52A95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74094"/>
            <a:ext cx="5181600" cy="3454399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7B69468-28B7-60AB-2B7D-1434FA571B6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331" y="1825625"/>
            <a:ext cx="4351338" cy="435133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82F8C9-F8A7-B6D5-7DF0-D38642CB5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29 March,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1396F-A395-BC66-5F80-53C5F8393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EE12-10DD-47FC-9BDC-E9BB437D84A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2272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44368-9132-2C2B-AEB8-0140BFE1C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Results (3)</a:t>
            </a:r>
            <a:br>
              <a:rPr lang="en-US" b="0" dirty="0">
                <a:effectLst/>
              </a:rPr>
            </a:br>
            <a:r>
              <a:rPr lang="en-US" b="1" dirty="0"/>
              <a:t>Hill Climbing at Bad Initialization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1C22697-61D7-84C3-98A5-777A7E5BF2F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6075" y="1690688"/>
            <a:ext cx="6419850" cy="4279899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3E04D2-B8C9-2027-1049-FA8EF37DB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29 March,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2501E-1A52-69BA-0B50-1809E3289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EE12-10DD-47FC-9BDC-E9BB437D84A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9725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442A5-FA85-A5C0-9139-D4B603629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Results (4)</a:t>
            </a:r>
            <a:br>
              <a:rPr lang="en-US" b="0" dirty="0">
                <a:effectLst/>
              </a:rPr>
            </a:br>
            <a:r>
              <a:rPr lang="en-US" b="1" dirty="0"/>
              <a:t>RL Learning Convergence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6F50FB7-4536-36FC-F3A8-6F76EAA8231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42" y="2513092"/>
            <a:ext cx="5952808" cy="2976404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825266E-196B-1C19-830C-B72273767AF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2160" y="2433082"/>
            <a:ext cx="6112828" cy="3056414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72E9D7-A2EB-04FB-6020-56000F12C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29 March,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AF113-1527-E466-48A9-371FF6153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EE12-10DD-47FC-9BDC-E9BB437D84A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4723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61483-D298-A2C5-5A7E-3AAA4BFBB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Results (5)</a:t>
            </a:r>
            <a:br>
              <a:rPr lang="en-US" b="0" dirty="0">
                <a:effectLst/>
              </a:rPr>
            </a:br>
            <a:r>
              <a:rPr lang="en-US" b="1" dirty="0"/>
              <a:t>RL Performance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DB1ED6E-E83F-A561-4E33-FAC93659AAF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331" y="1825625"/>
            <a:ext cx="4351338" cy="4351338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A6712AC-009A-3B95-8415-6B822A2BA7B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274094"/>
            <a:ext cx="5181600" cy="3454399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6FE6C6-9850-BD95-0871-6FFC1D881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29 March,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31485-DD65-D0D3-8039-B904791F8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EE12-10DD-47FC-9BDC-E9BB437D84A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0205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B4DCD-49E5-6770-D58A-EFBFBBB8B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(6)</a:t>
            </a:r>
            <a:br>
              <a:rPr lang="en-US" dirty="0">
                <a:effectLst/>
              </a:rPr>
            </a:br>
            <a:r>
              <a:rPr lang="en-US" dirty="0">
                <a:effectLst/>
              </a:rPr>
              <a:t>Average </a:t>
            </a:r>
            <a:r>
              <a:rPr lang="en-US" dirty="0"/>
              <a:t>Simulation Performance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4FB5B9F1-24B8-CBE9-2B25-EBC82BB123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1692643"/>
              </p:ext>
            </p:extLst>
          </p:nvPr>
        </p:nvGraphicFramePr>
        <p:xfrm>
          <a:off x="1004934" y="1825627"/>
          <a:ext cx="10182131" cy="435133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494459">
                  <a:extLst>
                    <a:ext uri="{9D8B030D-6E8A-4147-A177-3AD203B41FA5}">
                      <a16:colId xmlns:a16="http://schemas.microsoft.com/office/drawing/2014/main" val="1082839982"/>
                    </a:ext>
                  </a:extLst>
                </a:gridCol>
                <a:gridCol w="2229224">
                  <a:extLst>
                    <a:ext uri="{9D8B030D-6E8A-4147-A177-3AD203B41FA5}">
                      <a16:colId xmlns:a16="http://schemas.microsoft.com/office/drawing/2014/main" val="3145069573"/>
                    </a:ext>
                  </a:extLst>
                </a:gridCol>
                <a:gridCol w="2229224">
                  <a:extLst>
                    <a:ext uri="{9D8B030D-6E8A-4147-A177-3AD203B41FA5}">
                      <a16:colId xmlns:a16="http://schemas.microsoft.com/office/drawing/2014/main" val="383700072"/>
                    </a:ext>
                  </a:extLst>
                </a:gridCol>
                <a:gridCol w="2229224">
                  <a:extLst>
                    <a:ext uri="{9D8B030D-6E8A-4147-A177-3AD203B41FA5}">
                      <a16:colId xmlns:a16="http://schemas.microsoft.com/office/drawing/2014/main" val="3997498423"/>
                    </a:ext>
                  </a:extLst>
                </a:gridCol>
              </a:tblGrid>
              <a:tr h="49538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900" b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Metric</a:t>
                      </a:r>
                      <a:endParaRPr lang="en-US" sz="13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6944" marR="66944" marT="66944" marB="66944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900" b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Exhaustive Scan</a:t>
                      </a:r>
                      <a:endParaRPr lang="en-US" sz="13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6944" marR="66944" marT="66944" marB="66944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900" b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Hill Climbing</a:t>
                      </a:r>
                      <a:endParaRPr lang="en-US" sz="13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6944" marR="66944" marT="66944" marB="66944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900" b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Q-Learning</a:t>
                      </a:r>
                      <a:endParaRPr lang="en-US" sz="13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6944" marR="66944" marT="66944" marB="66944" anchor="ctr"/>
                </a:tc>
                <a:extLst>
                  <a:ext uri="{0D108BD9-81ED-4DB2-BD59-A6C34878D82A}">
                    <a16:rowId xmlns:a16="http://schemas.microsoft.com/office/drawing/2014/main" val="2363693831"/>
                  </a:ext>
                </a:extLst>
              </a:tr>
              <a:tr h="42843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7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Best RSSI Achieved (dBm)</a:t>
                      </a:r>
                      <a:endParaRPr lang="en-US" sz="13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6944" marR="66944" marT="66944" marB="66944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7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-30.14</a:t>
                      </a:r>
                      <a:endParaRPr lang="en-US" sz="13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6944" marR="66944" marT="66944" marB="66944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7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-32.13</a:t>
                      </a:r>
                      <a:endParaRPr lang="en-US" sz="13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6944" marR="66944" marT="66944" marB="669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−30.82 </a:t>
                      </a:r>
                    </a:p>
                  </a:txBody>
                  <a:tcPr marL="66944" marR="66944" marT="66944" marB="66944" anchor="ctr"/>
                </a:tc>
                <a:extLst>
                  <a:ext uri="{0D108BD9-81ED-4DB2-BD59-A6C34878D82A}">
                    <a16:rowId xmlns:a16="http://schemas.microsoft.com/office/drawing/2014/main" val="2914872525"/>
                  </a:ext>
                </a:extLst>
              </a:tr>
              <a:tr h="42843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7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Optimal Pan Angle (deg)</a:t>
                      </a:r>
                      <a:endParaRPr lang="en-US" sz="13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6944" marR="66944" marT="66944" marB="66944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7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88</a:t>
                      </a:r>
                      <a:endParaRPr lang="en-US" sz="13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6944" marR="66944" marT="66944" marB="66944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700" b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</a:t>
                      </a:r>
                      <a:endParaRPr lang="en-US" sz="13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6944" marR="66944" marT="66944" marB="66944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700" b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</a:t>
                      </a:r>
                      <a:endParaRPr lang="en-US" sz="13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6944" marR="66944" marT="66944" marB="66944" anchor="ctr"/>
                </a:tc>
                <a:extLst>
                  <a:ext uri="{0D108BD9-81ED-4DB2-BD59-A6C34878D82A}">
                    <a16:rowId xmlns:a16="http://schemas.microsoft.com/office/drawing/2014/main" val="3957892437"/>
                  </a:ext>
                </a:extLst>
              </a:tr>
              <a:tr h="42843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700" b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Optimal Tilt Angle (deg)</a:t>
                      </a:r>
                      <a:endParaRPr lang="en-US" sz="13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6944" marR="66944" marT="66944" marB="66944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700" b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</a:t>
                      </a:r>
                      <a:endParaRPr lang="en-US" sz="13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6944" marR="66944" marT="66944" marB="66944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700" b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86</a:t>
                      </a:r>
                      <a:endParaRPr lang="en-US" sz="13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6944" marR="66944" marT="66944" marB="66944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700" b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</a:t>
                      </a:r>
                      <a:endParaRPr lang="en-US" sz="13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6944" marR="66944" marT="66944" marB="66944" anchor="ctr"/>
                </a:tc>
                <a:extLst>
                  <a:ext uri="{0D108BD9-81ED-4DB2-BD59-A6C34878D82A}">
                    <a16:rowId xmlns:a16="http://schemas.microsoft.com/office/drawing/2014/main" val="2086195122"/>
                  </a:ext>
                </a:extLst>
              </a:tr>
              <a:tr h="42843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7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Convergence Time (s)</a:t>
                      </a:r>
                      <a:endParaRPr lang="en-US" sz="13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6944" marR="66944" marT="66944" marB="66944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700" b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67.68</a:t>
                      </a:r>
                      <a:endParaRPr lang="en-US" sz="13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6944" marR="66944" marT="66944" marB="66944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700" b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6.51</a:t>
                      </a:r>
                      <a:endParaRPr lang="en-US" sz="13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6944" marR="66944" marT="66944" marB="66944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700" b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5.51</a:t>
                      </a:r>
                      <a:endParaRPr lang="en-US" sz="13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6944" marR="66944" marT="66944" marB="66944" anchor="ctr"/>
                </a:tc>
                <a:extLst>
                  <a:ext uri="{0D108BD9-81ED-4DB2-BD59-A6C34878D82A}">
                    <a16:rowId xmlns:a16="http://schemas.microsoft.com/office/drawing/2014/main" val="2998297749"/>
                  </a:ext>
                </a:extLst>
              </a:tr>
              <a:tr h="42843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700" b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Number of Steps Taken</a:t>
                      </a:r>
                      <a:endParaRPr lang="en-US" sz="13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6944" marR="66944" marT="66944" marB="66944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7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945</a:t>
                      </a:r>
                      <a:endParaRPr lang="en-US" sz="13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6944" marR="66944" marT="66944" marB="66944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7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</a:t>
                      </a:r>
                      <a:endParaRPr lang="en-US" sz="13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6944" marR="66944" marT="66944" marB="66944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7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  <a:endParaRPr lang="en-US" sz="13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6944" marR="66944" marT="66944" marB="66944" anchor="ctr"/>
                </a:tc>
                <a:extLst>
                  <a:ext uri="{0D108BD9-81ED-4DB2-BD59-A6C34878D82A}">
                    <a16:rowId xmlns:a16="http://schemas.microsoft.com/office/drawing/2014/main" val="4266974046"/>
                  </a:ext>
                </a:extLst>
              </a:tr>
              <a:tr h="42843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7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RSSI Samples</a:t>
                      </a:r>
                      <a:endParaRPr lang="en-US" sz="13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6944" marR="66944" marT="66944" marB="66944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7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18,900</a:t>
                      </a:r>
                      <a:endParaRPr lang="en-US" sz="13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6944" marR="66944" marT="66944" marB="66944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7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780</a:t>
                      </a:r>
                      <a:endParaRPr lang="en-US" sz="13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6944" marR="66944" marT="66944" marB="66944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7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500</a:t>
                      </a:r>
                      <a:endParaRPr lang="en-US" sz="13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6944" marR="66944" marT="66944" marB="66944" anchor="ctr"/>
                </a:tc>
                <a:extLst>
                  <a:ext uri="{0D108BD9-81ED-4DB2-BD59-A6C34878D82A}">
                    <a16:rowId xmlns:a16="http://schemas.microsoft.com/office/drawing/2014/main" val="1496481521"/>
                  </a:ext>
                </a:extLst>
              </a:tr>
              <a:tr h="42843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700" b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Initialization Sensitivity</a:t>
                      </a:r>
                      <a:endParaRPr lang="en-US" sz="13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6944" marR="66944" marT="66944" marB="66944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700" b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None</a:t>
                      </a:r>
                      <a:endParaRPr lang="en-US" sz="13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6944" marR="66944" marT="66944" marB="66944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7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  <a:endParaRPr lang="en-US" sz="13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6944" marR="66944" marT="66944" marB="66944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700" b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</a:t>
                      </a:r>
                      <a:endParaRPr lang="en-US" sz="13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6944" marR="66944" marT="66944" marB="66944" anchor="ctr"/>
                </a:tc>
                <a:extLst>
                  <a:ext uri="{0D108BD9-81ED-4DB2-BD59-A6C34878D82A}">
                    <a16:rowId xmlns:a16="http://schemas.microsoft.com/office/drawing/2014/main" val="1851697405"/>
                  </a:ext>
                </a:extLst>
              </a:tr>
              <a:tr h="42843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700" b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Ability to Escape Local Maxima</a:t>
                      </a:r>
                      <a:endParaRPr lang="en-US" sz="13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6944" marR="66944" marT="66944" marB="66944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700" b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 Applicable</a:t>
                      </a:r>
                      <a:endParaRPr lang="en-US" sz="13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6944" marR="66944" marT="66944" marB="66944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7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en-US" sz="13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6944" marR="66944" marT="66944" marB="66944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700" b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  <a:endParaRPr lang="en-US" sz="13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6944" marR="66944" marT="66944" marB="66944" anchor="ctr"/>
                </a:tc>
                <a:extLst>
                  <a:ext uri="{0D108BD9-81ED-4DB2-BD59-A6C34878D82A}">
                    <a16:rowId xmlns:a16="http://schemas.microsoft.com/office/drawing/2014/main" val="2536025606"/>
                  </a:ext>
                </a:extLst>
              </a:tr>
              <a:tr h="42843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700" b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Suitability for Embedded Use</a:t>
                      </a:r>
                      <a:endParaRPr lang="en-US" sz="13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6944" marR="66944" marT="66944" marB="66944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700" b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</a:t>
                      </a:r>
                      <a:endParaRPr lang="en-US" sz="13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6944" marR="66944" marT="66944" marB="66944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7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  <a:endParaRPr lang="en-US" sz="13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6944" marR="66944" marT="66944" marB="66944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7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  <a:endParaRPr lang="en-US" sz="13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6944" marR="66944" marT="66944" marB="66944" anchor="ctr"/>
                </a:tc>
                <a:extLst>
                  <a:ext uri="{0D108BD9-81ED-4DB2-BD59-A6C34878D82A}">
                    <a16:rowId xmlns:a16="http://schemas.microsoft.com/office/drawing/2014/main" val="949927822"/>
                  </a:ext>
                </a:extLst>
              </a:tr>
            </a:tbl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7C3289-1312-1E0F-2E35-7289B69A8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29 March,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2D0A5-2BCA-4C6B-E6F8-B657EE437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EE12-10DD-47FC-9BDC-E9BB437D84A8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25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9048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AD3AD-355C-EF13-5087-BFAE0509A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Results (7)</a:t>
            </a:r>
            <a:br>
              <a:rPr lang="en-US" b="0" dirty="0">
                <a:effectLst/>
              </a:rPr>
            </a:br>
            <a:r>
              <a:rPr lang="en-US" b="1" dirty="0"/>
              <a:t>PCB and Slip-Ring Design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C1BF68E-BEDA-5498-9FB3-72E7980316D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422" y="1825625"/>
            <a:ext cx="4031155" cy="4351338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01085CF9-A134-F375-2EE8-07B52351817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6690" y="1825625"/>
            <a:ext cx="3732620" cy="435133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50D6AC-74C7-19FE-CA91-22AEB3E47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29 March,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CA6FB-F50B-3129-2AA7-BD828BF1E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EE12-10DD-47FC-9BDC-E9BB437D84A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2786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E0814-1DA3-8CE3-A95C-EDCA89C0D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Results (8)</a:t>
            </a:r>
            <a:br>
              <a:rPr lang="en-US" b="0" dirty="0">
                <a:effectLst/>
              </a:rPr>
            </a:br>
            <a:r>
              <a:rPr lang="en-US" b="1" dirty="0"/>
              <a:t>Hardware Design</a:t>
            </a:r>
            <a:endParaRPr lang="en-US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A833DCA5-6B0C-2625-0256-618DDC2392D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9759" y="1690688"/>
            <a:ext cx="4617922" cy="435133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4DA0D9-78A7-0E62-4C63-0A4956812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29 March,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7C7238-254C-3262-CDED-E47C79517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EE12-10DD-47FC-9BDC-E9BB437D84A8}" type="slidenum">
              <a:rPr lang="en-US" smtClean="0"/>
              <a:t>27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8789F0-F67C-CB46-B2EA-08DDB43270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057" y="2423954"/>
            <a:ext cx="4576145" cy="3154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5312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E0814-1DA3-8CE3-A95C-EDCA89C0D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Results (9)</a:t>
            </a:r>
            <a:br>
              <a:rPr lang="en-US" b="0" dirty="0">
                <a:effectLst/>
              </a:rPr>
            </a:br>
            <a:r>
              <a:rPr lang="en-GB" dirty="0"/>
              <a:t>Average Practical Performance 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4DA0D9-78A7-0E62-4C63-0A4956812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29 March,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7C7238-254C-3262-CDED-E47C79517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EE12-10DD-47FC-9BDC-E9BB437D84A8}" type="slidenum">
              <a:rPr lang="en-US" smtClean="0"/>
              <a:t>28</a:t>
            </a:fld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621A1CD-0022-9D4F-8C5E-28EF410EF0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250849"/>
              </p:ext>
            </p:extLst>
          </p:nvPr>
        </p:nvGraphicFramePr>
        <p:xfrm>
          <a:off x="838200" y="2139968"/>
          <a:ext cx="10515600" cy="2745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99754117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44706645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81714866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80958343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11940900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466230100"/>
                    </a:ext>
                  </a:extLst>
                </a:gridCol>
              </a:tblGrid>
              <a:tr h="92070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Avg. RSSI</a:t>
                      </a:r>
                    </a:p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(dBm)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Avg. Time (s)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Avg. Moves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Success (%)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RSSI Std. Deviation (dB)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4987944"/>
                  </a:ext>
                </a:extLst>
              </a:tr>
              <a:tr h="5799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Exhaustive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-49.95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54.20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812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1.60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1184237"/>
                  </a:ext>
                </a:extLst>
              </a:tr>
              <a:tr h="5799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Hill-Climbing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-52.73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11.84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63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2.34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210725"/>
                  </a:ext>
                </a:extLst>
              </a:tr>
              <a:tr h="5799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Q-Learning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-49.55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9.62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57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95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1.28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93444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07532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E0814-1DA3-8CE3-A95C-EDCA89C0D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Results (10)</a:t>
            </a:r>
            <a:br>
              <a:rPr lang="en-US" b="0" dirty="0">
                <a:effectLst/>
              </a:rPr>
            </a:br>
            <a:r>
              <a:rPr lang="en-GB" dirty="0"/>
              <a:t>Average Practical Performance 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4DA0D9-78A7-0E62-4C63-0A4956812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29 March,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7C7238-254C-3262-CDED-E47C79517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EE12-10DD-47FC-9BDC-E9BB437D84A8}" type="slidenum">
              <a:rPr lang="en-US" smtClean="0"/>
              <a:t>29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3E2C4D-6169-B547-98B8-F07D1674CC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908" y="2327564"/>
            <a:ext cx="5400000" cy="27397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884F53-D099-D940-A937-8C1515C354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6120" y="2244438"/>
            <a:ext cx="5400000" cy="275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2670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EA6A2-CC1B-433B-4823-E2D0B6DE1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Analysis of Results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1D9F4-E5EE-D5B0-4271-3D69BB0BE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>
              <a:spcBef>
                <a:spcPts val="600"/>
              </a:spcBef>
            </a:pPr>
            <a:r>
              <a:rPr lang="en-US" dirty="0"/>
              <a:t>RL learns directional correlation instead of brute-force search</a:t>
            </a:r>
          </a:p>
          <a:p>
            <a:pPr fontAlgn="base">
              <a:spcBef>
                <a:spcPts val="600"/>
              </a:spcBef>
            </a:pPr>
            <a:r>
              <a:rPr lang="en-US" dirty="0"/>
              <a:t>RL Utilizes historical RSSI trends for decision making</a:t>
            </a:r>
          </a:p>
          <a:p>
            <a:pPr fontAlgn="base">
              <a:spcBef>
                <a:spcPts val="600"/>
              </a:spcBef>
            </a:pPr>
            <a:r>
              <a:rPr lang="en-US" dirty="0"/>
              <a:t>RL Avoids repeated exploration of low-reward orientations</a:t>
            </a:r>
          </a:p>
          <a:p>
            <a:pPr fontAlgn="base">
              <a:spcBef>
                <a:spcPts val="600"/>
              </a:spcBef>
            </a:pPr>
            <a:r>
              <a:rPr lang="en-US" dirty="0"/>
              <a:t>Exhaustive Scan guarantees global optimum</a:t>
            </a:r>
          </a:p>
          <a:p>
            <a:pPr fontAlgn="base">
              <a:spcBef>
                <a:spcPts val="600"/>
              </a:spcBef>
            </a:pPr>
            <a:r>
              <a:rPr lang="en-US" dirty="0"/>
              <a:t>Hill Climbing converges faster but is sensitive to the initial antenna orientation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B1FAD-9687-9ECC-2AD0-652EC81F0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29 March,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5602A4-5745-D5F3-510B-E68B028A7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EE12-10DD-47FC-9BDC-E9BB437D84A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3834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39AA1-00BD-D59C-B875-5CDE28A38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36411"/>
          </a:xfrm>
        </p:spPr>
        <p:txBody>
          <a:bodyPr>
            <a:noAutofit/>
          </a:bodyPr>
          <a:lstStyle/>
          <a:p>
            <a:r>
              <a:rPr lang="en-US" dirty="0"/>
              <a:t>Analysis of Results (2)</a:t>
            </a:r>
            <a:br>
              <a:rPr lang="en-US" dirty="0"/>
            </a:br>
            <a:r>
              <a:rPr lang="en-GB" dirty="0"/>
              <a:t> Simulation to Practical Deviation</a:t>
            </a:r>
            <a:br>
              <a:rPr lang="en-GB" dirty="0"/>
            </a:b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91952B-6839-5ECF-5429-6EDE49825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29 March,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E61087-4459-31CC-35A4-6FA9AA65F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EE12-10DD-47FC-9BDC-E9BB437D84A8}" type="slidenum">
              <a:rPr lang="en-US" smtClean="0"/>
              <a:t>31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658510C-668E-1F4A-8845-129B2042A7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728135"/>
              </p:ext>
            </p:extLst>
          </p:nvPr>
        </p:nvGraphicFramePr>
        <p:xfrm>
          <a:off x="838198" y="2043979"/>
          <a:ext cx="10515602" cy="2995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9209">
                  <a:extLst>
                    <a:ext uri="{9D8B030D-6E8A-4147-A177-3AD203B41FA5}">
                      <a16:colId xmlns:a16="http://schemas.microsoft.com/office/drawing/2014/main" val="1014932370"/>
                    </a:ext>
                  </a:extLst>
                </a:gridCol>
                <a:gridCol w="1499209">
                  <a:extLst>
                    <a:ext uri="{9D8B030D-6E8A-4147-A177-3AD203B41FA5}">
                      <a16:colId xmlns:a16="http://schemas.microsoft.com/office/drawing/2014/main" val="3054683982"/>
                    </a:ext>
                  </a:extLst>
                </a:gridCol>
                <a:gridCol w="1499209">
                  <a:extLst>
                    <a:ext uri="{9D8B030D-6E8A-4147-A177-3AD203B41FA5}">
                      <a16:colId xmlns:a16="http://schemas.microsoft.com/office/drawing/2014/main" val="667191794"/>
                    </a:ext>
                  </a:extLst>
                </a:gridCol>
                <a:gridCol w="1499209">
                  <a:extLst>
                    <a:ext uri="{9D8B030D-6E8A-4147-A177-3AD203B41FA5}">
                      <a16:colId xmlns:a16="http://schemas.microsoft.com/office/drawing/2014/main" val="872048763"/>
                    </a:ext>
                  </a:extLst>
                </a:gridCol>
                <a:gridCol w="1499209">
                  <a:extLst>
                    <a:ext uri="{9D8B030D-6E8A-4147-A177-3AD203B41FA5}">
                      <a16:colId xmlns:a16="http://schemas.microsoft.com/office/drawing/2014/main" val="1880341152"/>
                    </a:ext>
                  </a:extLst>
                </a:gridCol>
                <a:gridCol w="1499209">
                  <a:extLst>
                    <a:ext uri="{9D8B030D-6E8A-4147-A177-3AD203B41FA5}">
                      <a16:colId xmlns:a16="http://schemas.microsoft.com/office/drawing/2014/main" val="897545017"/>
                    </a:ext>
                  </a:extLst>
                </a:gridCol>
                <a:gridCol w="1520348">
                  <a:extLst>
                    <a:ext uri="{9D8B030D-6E8A-4147-A177-3AD203B41FA5}">
                      <a16:colId xmlns:a16="http://schemas.microsoft.com/office/drawing/2014/main" val="1526273700"/>
                    </a:ext>
                  </a:extLst>
                </a:gridCol>
              </a:tblGrid>
              <a:tr h="74890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Simulation</a:t>
                      </a:r>
                    </a:p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RSSI (Avg.)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Practical</a:t>
                      </a:r>
                    </a:p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RSSI (Avg.)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800" b="1" kern="12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Δ</a:t>
                      </a:r>
                      <a:r>
                        <a:rPr lang="en-GB" sz="1800" b="1" kern="12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RSSI (dB)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kern="12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Simulation</a:t>
                      </a:r>
                    </a:p>
                    <a:p>
                      <a:pPr algn="ctr"/>
                      <a:r>
                        <a:rPr lang="en-GB" sz="1800" b="1" kern="12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Time (s)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kern="12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Practical</a:t>
                      </a:r>
                    </a:p>
                    <a:p>
                      <a:pPr algn="ctr"/>
                      <a:r>
                        <a:rPr lang="en-GB" sz="1800" b="1" kern="12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Time (s)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800" b="1" kern="12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Δ</a:t>
                      </a:r>
                      <a:r>
                        <a:rPr lang="en-GB" sz="1800" b="1" kern="12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8435064"/>
                  </a:ext>
                </a:extLst>
              </a:tr>
              <a:tr h="74890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Exhaustive Scanning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-30.14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-48.95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-18.75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67.68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70.20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3.6%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0229679"/>
                  </a:ext>
                </a:extLst>
              </a:tr>
              <a:tr h="74890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Hill-Climbing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-32.13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-52.73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-22.60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6.51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11.84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81.9%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3503907"/>
                  </a:ext>
                </a:extLst>
              </a:tr>
              <a:tr h="74890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Q-Learning (RL)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-30.82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-49.55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-19.73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5.51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9.62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74.6%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80760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05952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15EDB-B954-B274-002F-1C81A5ED5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4810"/>
            <a:ext cx="10515600" cy="1138822"/>
          </a:xfrm>
        </p:spPr>
        <p:txBody>
          <a:bodyPr>
            <a:normAutofit/>
          </a:bodyPr>
          <a:lstStyle/>
          <a:p>
            <a:r>
              <a:rPr lang="en-US" sz="4000" dirty="0"/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FB337-1EA2-805F-BB20-5E870996BE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/>
              <a:t>Mechanical and Hardware Improvements</a:t>
            </a:r>
          </a:p>
          <a:p>
            <a:pPr fontAlgn="base"/>
            <a:r>
              <a:rPr lang="en-US" dirty="0"/>
              <a:t>Algorithmic Improvements</a:t>
            </a:r>
          </a:p>
          <a:p>
            <a:pPr fontAlgn="base"/>
            <a:r>
              <a:rPr lang="en-US" dirty="0"/>
              <a:t>Embedded Software Enhancements</a:t>
            </a:r>
          </a:p>
          <a:p>
            <a:pPr fontAlgn="base"/>
            <a:r>
              <a:rPr lang="en-US" dirty="0"/>
              <a:t>System-Level Extensions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F5C8A-531A-FF64-8B37-D36011C3D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29 March,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F6AF94-712A-BD50-B1B4-F1B320FFF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EE12-10DD-47FC-9BDC-E9BB437D84A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014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36AE1-7D87-BC2D-D692-84959C210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Project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1C1BE-D461-5500-0CB3-10522039E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>
              <a:lnSpc>
                <a:spcPct val="100000"/>
              </a:lnSpc>
              <a:spcBef>
                <a:spcPts val="1800"/>
              </a:spcBef>
            </a:pPr>
            <a:r>
              <a:rPr lang="en-US" dirty="0"/>
              <a:t>Improving reliability and range of fixed wireless links </a:t>
            </a:r>
          </a:p>
          <a:p>
            <a:pPr fontAlgn="base">
              <a:lnSpc>
                <a:spcPct val="100000"/>
              </a:lnSpc>
              <a:spcBef>
                <a:spcPts val="1800"/>
              </a:spcBef>
            </a:pPr>
            <a:r>
              <a:rPr lang="en-US" dirty="0"/>
              <a:t>Enhancing signal stability in IoT or sensor networks with directional antennas</a:t>
            </a:r>
          </a:p>
          <a:p>
            <a:pPr fontAlgn="base">
              <a:lnSpc>
                <a:spcPct val="100000"/>
              </a:lnSpc>
              <a:spcBef>
                <a:spcPts val="1800"/>
              </a:spcBef>
            </a:pPr>
            <a:r>
              <a:rPr lang="en-US" dirty="0"/>
              <a:t>Low cost point-to-point wireless communication systems where manual alignment is impractical</a:t>
            </a:r>
          </a:p>
          <a:p>
            <a:pPr fontAlgn="base">
              <a:lnSpc>
                <a:spcPct val="100000"/>
              </a:lnSpc>
              <a:spcBef>
                <a:spcPts val="1800"/>
              </a:spcBef>
            </a:pPr>
            <a:r>
              <a:rPr lang="en-US" dirty="0"/>
              <a:t>Educational and research platforms for exploring embedded RL in real-time RF control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15864-1BB3-134D-F810-331B7A9BA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29 March,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BC4FB-C223-15F8-0981-A214908FF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EE12-10DD-47FC-9BDC-E9BB437D84A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3919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401CF-D52F-339A-F755-7E6C508D0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0D138-653E-C97E-9E45-EAD35C1DD2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2400" dirty="0"/>
              <a:t>Successfully implemented autonomous antenna alignment using ESP32-S3 and Q-learning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2400" dirty="0"/>
              <a:t>RL reduced alignment time by 82.25% compared to exhaustive scanning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2400" dirty="0"/>
              <a:t>Offers useful time-accuracy trade-off rather than absolute RSSI superiority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2400" dirty="0"/>
              <a:t>Lightweight 12.3 kB Q-table fits easily within embedded memory constraints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2400" dirty="0"/>
              <a:t>Discrete state-space may miss optimal alignments between sampled angles</a:t>
            </a:r>
            <a:br>
              <a:rPr lang="en-GB" sz="2400" dirty="0"/>
            </a:br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29BB9-B32B-754C-6332-BCF687B6B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29 March,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7157A4-B1F6-A041-5AB4-FBA3BB389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EE12-10DD-47FC-9BDC-E9BB437D84A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9329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84E3E-7F1A-CF11-0C16-C811B91E0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4853"/>
            <a:ext cx="10515600" cy="752225"/>
          </a:xfrm>
        </p:spPr>
        <p:txBody>
          <a:bodyPr/>
          <a:lstStyle/>
          <a:p>
            <a:r>
              <a:rPr lang="en-US" dirty="0"/>
              <a:t>Appendix - I [Gantt Chart]  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415537C-BDDD-8D66-A453-5A920E3E97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1223793"/>
            <a:ext cx="6951866" cy="498584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4B8BC-1E1D-290B-D78D-305D592D2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29 March,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5ED459-8AD6-2480-DDA8-824854E6A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EE12-10DD-47FC-9BDC-E9BB437D84A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0059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BF8DF-B3E6-3F1F-E358-259ED0EE4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9907"/>
          </a:xfrm>
        </p:spPr>
        <p:txBody>
          <a:bodyPr/>
          <a:lstStyle/>
          <a:p>
            <a:r>
              <a:rPr lang="en-US" dirty="0"/>
              <a:t>Appendix - II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209C4E0-D36A-F898-CEF8-F3511773D4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0819" y="1394493"/>
            <a:ext cx="3850362" cy="472239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237A4-1467-CA5C-0262-79FDDC537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29 March,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DF8746-2F0B-B41C-6092-41EE86938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EE12-10DD-47FC-9BDC-E9BB437D84A8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7063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8D80C-133F-AD86-A78A-5C9C28463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F4035-4790-EC75-E5D5-06333EF40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[1] C. Beard and W. Stallings, Wireless Communication Networks and Systems. Pearson, 2016.</a:t>
            </a:r>
            <a:endParaRPr lang="en-US" sz="1800" b="0" dirty="0">
              <a:effectLst/>
            </a:endParaRPr>
          </a:p>
          <a:p>
            <a:pPr marL="0" indent="0">
              <a:buNone/>
            </a:pPr>
            <a:r>
              <a:rPr lang="en-US" sz="1800" dirty="0"/>
              <a:t>[2] S. Ahmed et al., “Comparative analysis of machine learning algorithms for antenna alignments,” IEEE Access, 2021.</a:t>
            </a:r>
            <a:endParaRPr lang="en-US" sz="1800" b="0" dirty="0">
              <a:effectLst/>
            </a:endParaRPr>
          </a:p>
          <a:p>
            <a:pPr marL="0" indent="0">
              <a:buNone/>
            </a:pPr>
            <a:r>
              <a:rPr lang="en-US" sz="1800" dirty="0"/>
              <a:t>[3] A. T. Koru, J. Chang, and Y. Wan, “</a:t>
            </a:r>
            <a:r>
              <a:rPr lang="en-US" sz="1800" dirty="0" err="1"/>
              <a:t>RSSI</a:t>
            </a:r>
            <a:r>
              <a:rPr lang="en-US" sz="1800" dirty="0"/>
              <a:t>-based distributed control to align directional antenna pairs for UAV communication,” IEEE/ASME Transactions on Mechatronics, 2024.</a:t>
            </a:r>
            <a:endParaRPr lang="en-US" sz="1800" b="0" dirty="0">
              <a:effectLst/>
            </a:endParaRPr>
          </a:p>
          <a:p>
            <a:pPr marL="0" indent="0">
              <a:buNone/>
            </a:pPr>
            <a:r>
              <a:rPr lang="en-US" sz="1800" dirty="0"/>
              <a:t>[4] Y. Wan et al., “Received signal strength indicator-based decentralized control for robust long-range aerial networking using directional antennas,” IEEE Transactions on Aerospace and Electronic Systems, 2018.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8323C-7DDD-5AFC-6560-24AB8397E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29 March,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63108E-7C59-F6B6-5609-8E1FFBA09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EE12-10DD-47FC-9BDC-E9BB437D84A8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2993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4D760-AD39-2018-35C1-212B21EC9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489E3-C127-5900-6D62-A6C1C5967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[5] J. W. Smith et al., “</a:t>
            </a:r>
            <a:r>
              <a:rPr lang="en-US" sz="1800" dirty="0" err="1"/>
              <a:t>SmartAntenna</a:t>
            </a:r>
            <a:r>
              <a:rPr lang="en-US" sz="1800" dirty="0"/>
              <a:t>: Enhancing wireless range with autonomous orientation,” International Journal of Distributed Sensor Networks, 2019.</a:t>
            </a:r>
            <a:endParaRPr lang="en-US" sz="1800" b="0" dirty="0">
              <a:effectLst/>
            </a:endParaRPr>
          </a:p>
          <a:p>
            <a:pPr marL="0" indent="0">
              <a:buNone/>
            </a:pPr>
            <a:r>
              <a:rPr lang="en-US" sz="1800" dirty="0"/>
              <a:t>[6] Á. L. Makara, B. T. Csathó, A. Rácz, T. Borsos, L. Csurgai-Horváth, and B. P. Horváth, “Deep-Learning-Based Antenna Alignment Prediction for Mobile Indoor Communication,” Sensors, vol. 23, no. 7, p. 3375, 2023, </a:t>
            </a:r>
            <a:r>
              <a:rPr lang="en-US" sz="1800" dirty="0" err="1"/>
              <a:t>doi</a:t>
            </a:r>
            <a:r>
              <a:rPr lang="en-US" sz="1800" dirty="0"/>
              <a:t>: 10.3390/</a:t>
            </a:r>
            <a:r>
              <a:rPr lang="en-US" sz="1800" dirty="0" err="1"/>
              <a:t>s23073375</a:t>
            </a:r>
            <a:r>
              <a:rPr lang="en-US" sz="1800" dirty="0"/>
              <a:t>.</a:t>
            </a:r>
            <a:endParaRPr lang="en-US" sz="1800" b="0" dirty="0">
              <a:effectLst/>
            </a:endParaRPr>
          </a:p>
          <a:p>
            <a:pPr marL="0" indent="0">
              <a:buNone/>
            </a:pPr>
            <a:r>
              <a:rPr lang="en-US" sz="1800" dirty="0"/>
              <a:t>[7] R. S. Sutton and A. G. Barto, Reinforcement Learning: An Introduction, 2nd ed. Cambridge, MA, USA: MIT Press, 2018. ISBN 978-0262039246.</a:t>
            </a:r>
            <a:endParaRPr lang="en-US" sz="1800" b="0" dirty="0">
              <a:effectLst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AFEAA-9605-93A8-8837-D35546364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29 March,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6771EF-FF1A-80DF-61EF-624E99111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EEE12-10DD-47FC-9BDC-E9BB437D84A8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004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1352</Words>
  <Application>Microsoft Macintosh PowerPoint</Application>
  <PresentationFormat>Widescreen</PresentationFormat>
  <Paragraphs>321</Paragraphs>
  <Slides>38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Aptos</vt:lpstr>
      <vt:lpstr>Arial</vt:lpstr>
      <vt:lpstr>Office Theme</vt:lpstr>
      <vt:lpstr> REAL-TIME DIRECTIONAL ANTENNA ALIGNMENT USING  REINFORCEMENT LEARNING AND RSSI FEEDBACK  Atul Tiwari           (THA079BEI006) Bibek Joshi         (THA079BEI007) Inisha Maharjan  (THA079BEI012) Suprim Koirala    (THA079BEI043)  Supervisor: Er. Saroj Shakya  Department of Electronics and Computer Engineering Institute of Engineering, Thapathali Campus   March 29, 2026</vt:lpstr>
      <vt:lpstr>Presentation Outline</vt:lpstr>
      <vt:lpstr>Introduction</vt:lpstr>
      <vt:lpstr>Motivation</vt:lpstr>
      <vt:lpstr>Objectives</vt:lpstr>
      <vt:lpstr>Scope of Project</vt:lpstr>
      <vt:lpstr>Methodology (1) System Block Diagram</vt:lpstr>
      <vt:lpstr>Methodology (2) Hardware Implementation</vt:lpstr>
      <vt:lpstr>Methodology (3) Source and Receiver Configuration</vt:lpstr>
      <vt:lpstr>Methodology (4) Software Implementation</vt:lpstr>
      <vt:lpstr>Methodology (5) System Flow Diagram</vt:lpstr>
      <vt:lpstr>Methodology (6) Baseline Methods</vt:lpstr>
      <vt:lpstr>Methodology (7) Reinforcement Learning Overview</vt:lpstr>
      <vt:lpstr>Methodology (8) RL Model Design</vt:lpstr>
      <vt:lpstr>Methodology (9) RL Control Flow</vt:lpstr>
      <vt:lpstr>Methodology (10) Reinforcement Learning Framework</vt:lpstr>
      <vt:lpstr>Methodology (11) RL Limitations</vt:lpstr>
      <vt:lpstr>Methodology (12) Experimental Setup</vt:lpstr>
      <vt:lpstr>Methodology (13) Evaluation Metrics</vt:lpstr>
      <vt:lpstr>Results (1)  Exhaustive Scanning</vt:lpstr>
      <vt:lpstr>Results (2) Hill Climbing</vt:lpstr>
      <vt:lpstr>Results (3) Hill Climbing at Bad Initialization</vt:lpstr>
      <vt:lpstr>Results (4) RL Learning Convergence</vt:lpstr>
      <vt:lpstr>Results (5) RL Performance</vt:lpstr>
      <vt:lpstr>Results (6) Average Simulation Performance</vt:lpstr>
      <vt:lpstr>Results (7) PCB and Slip-Ring Design</vt:lpstr>
      <vt:lpstr>Results (8) Hardware Design</vt:lpstr>
      <vt:lpstr>Results (9) Average Practical Performance </vt:lpstr>
      <vt:lpstr>Results (10) Average Practical Performance </vt:lpstr>
      <vt:lpstr>Analysis of Results (1)</vt:lpstr>
      <vt:lpstr>Analysis of Results (2)  Simulation to Practical Deviation </vt:lpstr>
      <vt:lpstr>Future Enhancements</vt:lpstr>
      <vt:lpstr>Project Applications</vt:lpstr>
      <vt:lpstr>Conclusion</vt:lpstr>
      <vt:lpstr>Appendix - I [Gantt Chart]  </vt:lpstr>
      <vt:lpstr>Appendix - II</vt:lpstr>
      <vt:lpstr>References I</vt:lpstr>
      <vt:lpstr>References II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Real-Time Directional Antenna Alignment using Reinforcement Learning and  RSSI Feedback</dc:title>
  <dc:creator>Supreme Koirala</dc:creator>
  <cp:lastModifiedBy>Microsoft Office User</cp:lastModifiedBy>
  <cp:revision>76</cp:revision>
  <cp:lastPrinted>2026-03-23T04:22:26Z</cp:lastPrinted>
  <dcterms:created xsi:type="dcterms:W3CDTF">2026-03-22T16:58:13Z</dcterms:created>
  <dcterms:modified xsi:type="dcterms:W3CDTF">2026-05-02T12:23:13Z</dcterms:modified>
</cp:coreProperties>
</file>